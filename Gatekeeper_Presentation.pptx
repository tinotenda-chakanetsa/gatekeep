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4" autoAdjust="0"/>
  </p:normalViewPr>
  <p:slideViewPr>
    <p:cSldViewPr snapToGrid="0" snapToObjects="1">
      <p:cViewPr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99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morning, panel. My name is Tinotenda Chakanetsa, registration number</a:t>
            </a:r>
          </a:p>
          <a:p>
            <a:r>
              <a:t>R235191W, third-year BSc Honours Cloud Computing and IoT. My internship</a:t>
            </a:r>
          </a:p>
          <a:p>
            <a:r>
              <a:t>project is Gatekeeper — an automated licence-plate gate access-control</a:t>
            </a:r>
          </a:p>
          <a:p>
            <a:r>
              <a:t>system built around deep learning and a small IoT bill of materials.</a:t>
            </a:r>
          </a:p>
          <a:p>
            <a:r>
              <a:t>I'll spend roughly twelve minutes walking you through the problem,</a:t>
            </a:r>
          </a:p>
          <a:p>
            <a:r>
              <a:t>how the system is built, what was actually achieved, and where I would</a:t>
            </a:r>
          </a:p>
          <a:p>
            <a:r>
              <a:t>take it next. Please hold questions for the end — I'll be glad to take</a:t>
            </a:r>
          </a:p>
          <a:p>
            <a:r>
              <a:t>them when we get to the Q&amp;A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route through the talk. I'll spend more time on architecture</a:t>
            </a:r>
          </a:p>
          <a:p>
            <a:r>
              <a:t>and results — those are where the engineering decisions and the</a:t>
            </a:r>
          </a:p>
          <a:p>
            <a:r>
              <a:t>measurable outcomes live — and keep background, deployment, and future</a:t>
            </a:r>
          </a:p>
          <a:p>
            <a:r>
              <a:t>work tight. Total budget is around fifteen minutes including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starting observation is mundane but consequential. Manual gate</a:t>
            </a:r>
          </a:p>
          <a:p>
            <a:r>
              <a:t>control is the default at almost every Zimbabwean residential complex,</a:t>
            </a:r>
          </a:p>
          <a:p>
            <a:r>
              <a:t>office park, school and logistics yard I have seen. It is slow,</a:t>
            </a:r>
          </a:p>
          <a:p>
            <a:r>
              <a:t>inconsistent and offers no searchable record. Commercial automated</a:t>
            </a:r>
          </a:p>
          <a:p>
            <a:r>
              <a:t>licence-plate recognition exists, but it is sold to fleets and large</a:t>
            </a:r>
          </a:p>
          <a:p>
            <a:r>
              <a:t>estates — not to a single homeowner or a small business. So there's a</a:t>
            </a:r>
          </a:p>
          <a:p>
            <a:r>
              <a:t>clean gap to fill: a low-cost, open-source, locally-relevant prototype</a:t>
            </a:r>
          </a:p>
          <a:p>
            <a:r>
              <a:t>that one operator can stand up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 sentence at the top is the project aim. Below it are the six</a:t>
            </a:r>
          </a:p>
          <a:p>
            <a:r>
              <a:t>objectives, in the order they were tackled. Each one became a chapter</a:t>
            </a:r>
          </a:p>
          <a:p>
            <a:r>
              <a:t>of the implementation: dataset, model, backend, frontend, firmware,</a:t>
            </a:r>
          </a:p>
          <a:p>
            <a:r>
              <a:t>deployment. I'll return to each of these in turn over the next few</a:t>
            </a:r>
          </a:p>
          <a:p>
            <a:r>
              <a:t>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slide I am happy to dwell on if asked. There are</a:t>
            </a:r>
          </a:p>
          <a:p>
            <a:r>
              <a:t>three physical zones: the gate site at the top, the public-internet hop</a:t>
            </a:r>
          </a:p>
          <a:p>
            <a:r>
              <a:t>in the middle, and the backend host at the bottom. The two boards at the</a:t>
            </a:r>
          </a:p>
          <a:p>
            <a:r>
              <a:t>gate cooperate over a UART link — the ESP32 control node owns the PIR,</a:t>
            </a:r>
          </a:p>
          <a:p>
            <a:r>
              <a:t>the servo boom, the LEDs and the buzzer; the ESP32-CAM owns WiFi, HTTPS</a:t>
            </a:r>
          </a:p>
          <a:p>
            <a:r>
              <a:t>and the camera. The administrative path runs in parallel: a browser</a:t>
            </a:r>
          </a:p>
          <a:p>
            <a:r>
              <a:t>hits the React SPA on Vercel, Vercel hits the backend through the</a:t>
            </a:r>
          </a:p>
          <a:p>
            <a:r>
              <a:t>Tailscale Funnel. The funnel exists because the VM has no public IPv4 of</a:t>
            </a:r>
          </a:p>
          <a:p>
            <a:r>
              <a:t>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physical build. Two boards working together at the gate</a:t>
            </a:r>
          </a:p>
          <a:p>
            <a:r>
              <a:t>site. The ESP32 control board owns the peripherals you can see, the</a:t>
            </a:r>
          </a:p>
          <a:p>
            <a:r>
              <a:t>ESP32-CAM owns the camera and the WiFi. They talk over a three-wire</a:t>
            </a:r>
          </a:p>
          <a:p>
            <a:r>
              <a:t>UART link, plus a shared ground that is non-negotiable. Total cost of</a:t>
            </a:r>
          </a:p>
          <a:p>
            <a:r>
              <a:t>all the parts on this breadboard is under twenty US dollars. Power is</a:t>
            </a:r>
          </a:p>
          <a:p>
            <a:r>
              <a:t>delivered from a single 5 V 2 A supply that feeds both boards and the</a:t>
            </a:r>
          </a:p>
          <a:p>
            <a:r>
              <a:t>servo — running the servo from the ESP32's 3.3 V pin will crash the</a:t>
            </a:r>
          </a:p>
          <a:p>
            <a:r>
              <a:t>chip mid-capture, so the rail is shared but the regulator is bypassed.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Rather than collecting plates from scratch — which would have eaten the</a:t>
            </a:r>
          </a:p>
          <a:p>
            <a:r>
              <a:t>whole project budget — I merged two publicly available Roboflow</a:t>
            </a:r>
          </a:p>
          <a:p>
            <a:r>
              <a:t>datasets. A small Python helper downloads each, normalises the file</a:t>
            </a:r>
          </a:p>
          <a:p>
            <a:r>
              <a:t>layout, and rewrites every label so that whatever class IDs the upstream</a:t>
            </a:r>
          </a:p>
          <a:p>
            <a:r>
              <a:t>used, the merged dataset has exactly one class: license_plate. After</a:t>
            </a:r>
          </a:p>
          <a:p>
            <a:r>
              <a:t>merging, I had 717 images: 635 training, 55 validation, 27 test. That</a:t>
            </a:r>
          </a:p>
          <a:p>
            <a:r>
              <a:t>follows roughly the 70 / 20 / 10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picked the smallest Ultralytics backbone, YOLO11n, because the dataset</a:t>
            </a:r>
          </a:p>
          <a:p>
            <a:r>
              <a:t>is modest in size and the inference will run on a CPU-only VM anyway.</a:t>
            </a:r>
          </a:p>
          <a:p>
            <a:r>
              <a:t>Transfer learning from the COCO checkpoint accelerated convergence and</a:t>
            </a:r>
          </a:p>
          <a:p>
            <a:r>
              <a:t>gave a much stronger starting point than random initialisation.</a:t>
            </a:r>
          </a:p>
          <a:p>
            <a:r>
              <a:t>Training ran for an effective 75 epochs in about six and a half minutes</a:t>
            </a:r>
          </a:p>
          <a:p>
            <a:r>
              <a:t>on a single GPU. The headline number is validation mAP at 0.5</a:t>
            </a:r>
          </a:p>
          <a:p>
            <a:r>
              <a:t>intersection-over-union of approximately 0.94 — well into the "usable</a:t>
            </a:r>
          </a:p>
          <a:p>
            <a:r>
              <a:t>for the next OCR stage" range. The mAP@0.5:0.95 figure of around 0.65</a:t>
            </a:r>
          </a:p>
          <a:p>
            <a:r>
              <a:t>tells me the boxes are well-localised but not razor-tight, which is</a:t>
            </a:r>
          </a:p>
          <a:p>
            <a:r>
              <a:t>fine because I pad the crop before passing it to PaddleOCR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for the panel that wants to see the model justified.</a:t>
            </a:r>
          </a:p>
          <a:p>
            <a:r>
              <a:t>The graph on the left shows training and validation losses against the</a:t>
            </a:r>
          </a:p>
          <a:p>
            <a:r>
              <a:t>two mAP curves over the 75 effective epochs — the losses fall</a:t>
            </a:r>
          </a:p>
          <a:p>
            <a:r>
              <a:t>monotonically and the metrics plateau, exactly the early-stop signal we</a:t>
            </a:r>
          </a:p>
          <a:p>
            <a:r>
              <a:t>hoped for. The picture on the right shows the detector boxes drawn on</a:t>
            </a:r>
          </a:p>
          <a:p>
            <a:r>
              <a:t>real validation imagery so the panel can see the model finding plates</a:t>
            </a:r>
          </a:p>
          <a:p>
            <a:r>
              <a:t>in cluttered scenes, not just numbers. The small panel at the bottom</a:t>
            </a:r>
          </a:p>
          <a:p>
            <a:r>
              <a:t>left is the normalised confusion matrix — single class, so the only</a:t>
            </a:r>
          </a:p>
          <a:p>
            <a:r>
              <a:t>off-diagonal cell is background false positives, which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backend is a fairly conventional Django REST framework setup, split</a:t>
            </a:r>
          </a:p>
          <a:p>
            <a:r>
              <a:t>into three apps. The interesting parts are two design choices. First,</a:t>
            </a:r>
          </a:p>
          <a:p>
            <a:r>
              <a:t>two authentication channels: dashboard users get JWT tokens, while the</a:t>
            </a:r>
          </a:p>
          <a:p>
            <a:r>
              <a:t>ESP32-CAM authenticates with a per-device API key in a header. That</a:t>
            </a:r>
          </a:p>
          <a:p>
            <a:r>
              <a:t>keeps user passwords out of the firmware entirely. Second, plate</a:t>
            </a:r>
          </a:p>
          <a:p>
            <a:r>
              <a:t>matching is layered: an exact match first, then a confusion-folded</a:t>
            </a:r>
          </a:p>
          <a:p>
            <a:r>
              <a:t>match that collapses commonly-confused characters like letter-O and</a:t>
            </a:r>
          </a:p>
          <a:p>
            <a:r>
              <a:t>zero, and finally a bounded fuzzy match. The OCR is the noisy stage of</a:t>
            </a:r>
          </a:p>
          <a:p>
            <a:r>
              <a:t>the pipeline, so the matching has to absorb that noise without granting</a:t>
            </a:r>
          </a:p>
          <a:p>
            <a:r>
              <a:t>the wrong vehicle.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frontend is a React 19 single-page app, hosted statically on</a:t>
            </a:r>
          </a:p>
          <a:p>
            <a:r>
              <a:t>Vercel's Hobby tier. The interesting story here is the deployment</a:t>
            </a:r>
          </a:p>
          <a:p>
            <a:r>
              <a:t>quirk I hit: Vercel reserves any URL path containing the segment slash</a:t>
            </a:r>
          </a:p>
          <a:p>
            <a:r>
              <a:t>api for its own serverless functions. My first deployment tried to</a:t>
            </a:r>
          </a:p>
          <a:p>
            <a:r>
              <a:t>proxy /api back to the backend through a Vercel rewrite and that hit a</a:t>
            </a:r>
          </a:p>
          <a:p>
            <a:r>
              <a:t>404 wall. The fix was to point the SPA at the backend's absolute URL</a:t>
            </a:r>
          </a:p>
          <a:p>
            <a:r>
              <a:t>through a build-time environment variable and enable CORS for the</a:t>
            </a:r>
          </a:p>
          <a:p>
            <a:r>
              <a:t>Vercel origin on the Django side. Worth knowing if anyone else hits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original prototype ran everything on one ESP32-CAM and quickly ran</a:t>
            </a:r>
          </a:p>
          <a:p>
            <a:r>
              <a:t>out of GPIO once I started adding a servo, LEDs and a buzzer. So I</a:t>
            </a:r>
          </a:p>
          <a:p>
            <a:r>
              <a:t>split the firmware across two boards that talk to each other over a</a:t>
            </a:r>
          </a:p>
          <a:p>
            <a:r>
              <a:t>plain UART link at 115200 baud, exchanging short text lines like</a:t>
            </a:r>
          </a:p>
          <a:p>
            <a:r>
              <a:t>CAPTURE, AUTH 1 and AUTH 0. The control node owns the peripherals and</a:t>
            </a:r>
          </a:p>
          <a:p>
            <a:r>
              <a:t>the camera node owns the network. Two camera-specific gotchas I had to</a:t>
            </a:r>
          </a:p>
          <a:p>
            <a:r>
              <a:t>solve along the way are worth flagging: the AI-Thinker board's default</a:t>
            </a:r>
          </a:p>
          <a:p>
            <a:r>
              <a:t>sensor output is mirrored, so I have to call set_hmirror to un-mirror</a:t>
            </a:r>
          </a:p>
          <a:p>
            <a:r>
              <a:t>it before PaddleOCR sees the frame; and the camera buffers were</a:t>
            </a:r>
          </a:p>
          <a:p>
            <a:r>
              <a:t>producing stale frames, so I drain two stale frames before grabbing</a:t>
            </a:r>
          </a:p>
          <a:p>
            <a:r>
              <a:t>the real one. Once those two fixes were in, end-to-end accuracy was</a:t>
            </a:r>
          </a:p>
          <a:p>
            <a:r>
              <a:t>solid.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Deployment is where I deliberately leaned on free tiers. The backend</a:t>
            </a:r>
          </a:p>
          <a:p>
            <a:r>
              <a:t>runs inside Docker on a private-IP Ubuntu VM. Because the VM has no</a:t>
            </a:r>
          </a:p>
          <a:p>
            <a:r>
              <a:t>public IPv4, I use Tailscale Funnel to expose port 8000 over a public</a:t>
            </a:r>
          </a:p>
          <a:p>
            <a:r>
              <a:t>HTTPS URL — no router config, no DNS, no certbot — just one cloudflared-</a:t>
            </a:r>
          </a:p>
          <a:p>
            <a:r>
              <a:t>style daemon that gives me a permanent .ts.net hostname with a real</a:t>
            </a:r>
          </a:p>
          <a:p>
            <a:r>
              <a:t>Let's Encrypt cert. The React frontend is deployed on Vercel Hobby,</a:t>
            </a:r>
          </a:p>
          <a:p>
            <a:r>
              <a:t>which auto-deploys on every push to main. The whole running cost is</a:t>
            </a:r>
          </a:p>
          <a:p>
            <a:r>
              <a:t>just the VM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evidence-rich slide for "the system actually</a:t>
            </a:r>
          </a:p>
          <a:p>
            <a:r>
              <a:t>works". The composite on the left is taken from the OCR Tester page on</a:t>
            </a:r>
          </a:p>
          <a:p>
            <a:r>
              <a:t>the dashboard, which exposes the full pipeline as a diagnostic tool. It</a:t>
            </a:r>
          </a:p>
          <a:p>
            <a:r>
              <a:t>shows the original photo, the YOLO bounding box on the plate region,</a:t>
            </a:r>
          </a:p>
          <a:p>
            <a:r>
              <a:t>the cropped plate, and the recognised text — the same pipeline that</a:t>
            </a:r>
          </a:p>
          <a:p>
            <a:r>
              <a:t>runs on every PIR-triggered capture, just made visible. The bullet</a:t>
            </a:r>
          </a:p>
          <a:p>
            <a:r>
              <a:t>list on the right is the order of operations: capture, detect, crop,</a:t>
            </a:r>
          </a:p>
          <a:p>
            <a:r>
              <a:t>OCR, match, log. That whole chain runs in under four seconds on the</a:t>
            </a:r>
          </a:p>
          <a:p>
            <a:r>
              <a:t>CPU-only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 am honest about three real limitations. First, CPU-only OCR adds</a:t>
            </a:r>
          </a:p>
          <a:p>
            <a:r>
              <a:rPr dirty="0"/>
              <a:t>about two to four seconds to each gate cycle — fine for cars stopping</a:t>
            </a:r>
          </a:p>
          <a:p>
            <a:r>
              <a:rPr dirty="0"/>
              <a:t>at a boom but not for a toll. Second, the OV2640 sensor struggles in</a:t>
            </a:r>
          </a:p>
          <a:p>
            <a:r>
              <a:rPr dirty="0"/>
              <a:t>low light and would need an extra illuminator at night. Third,</a:t>
            </a:r>
          </a:p>
          <a:p>
            <a:r>
              <a:rPr dirty="0"/>
              <a:t>disabling certificate validation on the ESP32 is a prototype shortcut;</a:t>
            </a:r>
          </a:p>
          <a:p>
            <a:r>
              <a:rPr dirty="0"/>
              <a:t>a production deployment would pin the </a:t>
            </a:r>
            <a:r>
              <a:rPr dirty="0" err="1"/>
              <a:t>Tailscale</a:t>
            </a:r>
            <a:r>
              <a:rPr dirty="0"/>
              <a:t> root CA. The two</a:t>
            </a:r>
          </a:p>
          <a:p>
            <a:r>
              <a:rPr dirty="0"/>
              <a:t>concrete next steps I would take are an LCD at the gate showing the</a:t>
            </a:r>
          </a:p>
          <a:p>
            <a:r>
              <a:rPr dirty="0"/>
              <a:t>matched plate and owner, and switching the dashboard from a four-second</a:t>
            </a:r>
          </a:p>
          <a:p>
            <a:r>
              <a:rPr dirty="0"/>
              <a:t>poll to a WebSocket stream for snappier live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End on a confident note. Restate the six objectives in one sentence and</a:t>
            </a:r>
          </a:p>
          <a:p>
            <a:r>
              <a:rPr lang="en-US" dirty="0"/>
              <a:t>invite questions. The bullets on the slide are the questions I have</a:t>
            </a:r>
          </a:p>
          <a:p>
            <a:r>
              <a:rPr lang="en-US" dirty="0"/>
              <a:t>rehearsed quick, specific answers for — when one of them comes up, I</a:t>
            </a:r>
          </a:p>
          <a:p>
            <a:r>
              <a:rPr lang="en-US" dirty="0"/>
              <a:t>already have the response. For anything I cannot answer fully on the</a:t>
            </a:r>
          </a:p>
          <a:p>
            <a:r>
              <a:rPr lang="en-US" dirty="0"/>
              <a:t>spot, the rule is: state what I know, state what I would do to find</a:t>
            </a:r>
          </a:p>
          <a:p>
            <a:r>
              <a:rPr lang="en-US" dirty="0"/>
              <a:t>out, and offer to follow up. Do not bluff. Thank the panel for their</a:t>
            </a:r>
          </a:p>
          <a:p>
            <a:r>
              <a:rPr lang="en-US" dirty="0"/>
              <a:t>time.</a:t>
            </a:r>
          </a:p>
          <a:p>
            <a:endParaRPr lang="en-US" dirty="0"/>
          </a:p>
          <a:p>
            <a:r>
              <a:rPr lang="en-US" dirty="0"/>
              <a:t>CHEAT SHEET FOR Q&amp;A:</a:t>
            </a:r>
          </a:p>
          <a:p>
            <a:r>
              <a:rPr lang="en-US" dirty="0"/>
              <a:t>- Latency budget: capture ~150ms + upload ~1.5s + OCR ~2.5s = ~4s total.</a:t>
            </a:r>
          </a:p>
          <a:p>
            <a:r>
              <a:rPr lang="en-US" dirty="0"/>
              <a:t>- Dataset breakdown: 635 train / 55 valid / 27 test = 717 total.</a:t>
            </a:r>
          </a:p>
          <a:p>
            <a:r>
              <a:rPr lang="en-US" dirty="0"/>
              <a:t>- Best metrics row: epoch 66, precision 1.00, recall 0.92, mAP50 0.940.</a:t>
            </a:r>
          </a:p>
          <a:p>
            <a:r>
              <a:rPr lang="en-US" dirty="0"/>
              <a:t>- Stack versions: Django 5.2, DRF 3.15, React 19, Vite 7, </a:t>
            </a:r>
            <a:r>
              <a:rPr lang="en-US" dirty="0" err="1"/>
              <a:t>Ultralytics</a:t>
            </a:r>
            <a:r>
              <a:rPr lang="en-US" dirty="0"/>
              <a:t> 8.3.</a:t>
            </a:r>
          </a:p>
          <a:p>
            <a:r>
              <a:rPr lang="en-US" dirty="0"/>
              <a:t>- ESP32-CAM camera: OV2640, SVGA 800x600, JPEG quality 12, PSRAM-resident.</a:t>
            </a:r>
          </a:p>
          <a:p>
            <a:r>
              <a:rPr lang="en-US" dirty="0"/>
              <a:t>- Cost: ~USD 20 BOM at the gate, VM is the only recurring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51560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 i="0" dirty="0">
                <a:solidFill>
                  <a:srgbClr val="1B1B1B"/>
                </a:solidFill>
                <a:latin typeface="Calibri"/>
              </a:rPr>
              <a:t>GATEKEEPER</a:t>
            </a:r>
          </a:p>
          <a:p>
            <a:r>
              <a:rPr sz="2400" b="0" i="0" dirty="0">
                <a:solidFill>
                  <a:srgbClr val="2E6B4F"/>
                </a:solidFill>
                <a:latin typeface="Calibri"/>
              </a:rPr>
              <a:t>An Automated </a:t>
            </a:r>
            <a:r>
              <a:rPr sz="2400" b="0" i="0" dirty="0" err="1">
                <a:solidFill>
                  <a:srgbClr val="2E6B4F"/>
                </a:solidFill>
                <a:latin typeface="Calibri"/>
              </a:rPr>
              <a:t>Licence</a:t>
            </a:r>
            <a:r>
              <a:rPr sz="2400" b="0" i="0" dirty="0">
                <a:solidFill>
                  <a:srgbClr val="2E6B4F"/>
                </a:solidFill>
                <a:latin typeface="Calibri"/>
              </a:rPr>
              <a:t>-Plate Gate Access-Control System
Using Deep Learning and IoT</a:t>
            </a:r>
          </a:p>
          <a:p>
            <a:pPr>
              <a:spcBef>
                <a:spcPts val="2800"/>
              </a:spcBef>
            </a:pPr>
            <a:r>
              <a:rPr b="0" i="1" dirty="0">
                <a:solidFill>
                  <a:srgbClr val="555555"/>
                </a:solidFill>
                <a:latin typeface="Calibri"/>
              </a:rPr>
              <a:t>Industrial Training Oral Presentation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643576"/>
            <a:ext cx="105156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i="0" dirty="0">
                <a:solidFill>
                  <a:srgbClr val="1B1B1B"/>
                </a:solidFill>
                <a:latin typeface="Calibri"/>
              </a:rPr>
              <a:t>Student: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Tinotenda M. Chakanetsa</a:t>
            </a:r>
          </a:p>
          <a:p>
            <a:pPr>
              <a:spcAft>
                <a:spcPts val="100"/>
              </a:spcAft>
            </a:pPr>
            <a:r>
              <a:rPr b="1" i="0" dirty="0">
                <a:solidFill>
                  <a:srgbClr val="1B1B1B"/>
                </a:solidFill>
                <a:latin typeface="Calibri"/>
              </a:rPr>
              <a:t>Registration No.: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R235191W</a:t>
            </a:r>
          </a:p>
          <a:p>
            <a:pPr>
              <a:spcAft>
                <a:spcPts val="100"/>
              </a:spcAft>
            </a:pPr>
            <a:r>
              <a:rPr b="1" i="0" dirty="0" err="1">
                <a:solidFill>
                  <a:srgbClr val="1B1B1B"/>
                </a:solidFill>
                <a:latin typeface="Calibri"/>
              </a:rPr>
              <a:t>Programme</a:t>
            </a:r>
            <a:r>
              <a:rPr b="1" i="0" dirty="0">
                <a:solidFill>
                  <a:srgbClr val="1B1B1B"/>
                </a:solidFill>
                <a:latin typeface="Calibri"/>
              </a:rPr>
              <a:t>: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BSc Honours Cloud Computing and Internet of Things</a:t>
            </a:r>
          </a:p>
          <a:p>
            <a:pPr>
              <a:spcAft>
                <a:spcPts val="100"/>
              </a:spcAft>
            </a:pPr>
            <a:r>
              <a:rPr b="1" i="0" dirty="0">
                <a:solidFill>
                  <a:srgbClr val="1B1B1B"/>
                </a:solidFill>
                <a:latin typeface="Calibri"/>
              </a:rPr>
              <a:t>Faculty: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Computer Engineering, Informatics and Communications</a:t>
            </a:r>
          </a:p>
          <a:p>
            <a:pPr>
              <a:spcAft>
                <a:spcPts val="100"/>
              </a:spcAft>
            </a:pPr>
            <a:r>
              <a:rPr b="1" i="0" dirty="0">
                <a:solidFill>
                  <a:srgbClr val="1B1B1B"/>
                </a:solidFill>
                <a:latin typeface="Calibri"/>
              </a:rPr>
              <a:t>Supervisor: </a:t>
            </a:r>
            <a:r>
              <a:rPr b="0" i="0" dirty="0" err="1">
                <a:solidFill>
                  <a:srgbClr val="1B1B1B"/>
                </a:solidFill>
                <a:latin typeface="Calibri"/>
              </a:rPr>
              <a:t>Mr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 R. Zenda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555555"/>
                </a:solidFill>
                <a:latin typeface="Calibri"/>
              </a:rPr>
              <a:t>WHAT I WILL COVER</a:t>
            </a:r>
          </a:p>
          <a:p>
            <a:r>
              <a:rPr sz="3000" b="1" i="0">
                <a:solidFill>
                  <a:srgbClr val="1B1B1B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B4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Problem and objectives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Why this project, and what it set out to deliver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2E6B4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System architecture and hardware build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ESP32 + ESP32-CAM + servo + LEDs + buzzer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2E6B4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Dataset, model training and training visuals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Roboflow merge + YOLO11n fine-tune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2E6B4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Backend, frontend and firmware implementation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How each layer is built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2E6B4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OCR live capture and dashboard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A real plate, end-to-end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2E6B4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Deployment, results, limitations, next steps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Free-tier stack, what works, what is rough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2E6B4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B1B1B"/>
                </a:solidFill>
                <a:latin typeface="Calibri"/>
              </a:rPr>
              <a:t>Questions</a:t>
            </a:r>
          </a:p>
          <a:p>
            <a:pPr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Open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555555"/>
                </a:solidFill>
                <a:latin typeface="Calibri"/>
              </a:rPr>
              <a:t>CHAPTER 1</a:t>
            </a:r>
          </a:p>
          <a:p>
            <a:r>
              <a:rPr sz="3000" b="1" i="0">
                <a:solidFill>
                  <a:srgbClr val="1B1B1B"/>
                </a:solidFill>
                <a:latin typeface="Calibri"/>
              </a:rPr>
              <a:t>Background and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Manual gate access dominates in Zimbabwe.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Guards verify vehicles by eye and record plates by hand — if at all.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It is slow, inconsistent and leaves no real audit trail.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After-the-fact investigations rely on memory or unreliable CCTV.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Commercial ALPR exists but is priced for fleets and enterprises.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Many require dedicated PC hardware at the gate and closed vendor clouds.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There is a gap for an open, low-cost, locally-relevant prototype.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Something a single operator could deploy on commodity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AIMS</a:t>
            </a:r>
            <a:endParaRPr sz="1100" b="1" i="0" dirty="0">
              <a:solidFill>
                <a:srgbClr val="555555"/>
              </a:solidFill>
              <a:latin typeface="Calibri"/>
            </a:endParaRP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Aim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dirty="0">
                <a:solidFill>
                  <a:srgbClr val="2E6B4F"/>
                </a:solidFill>
                <a:latin typeface="Calibri"/>
              </a:rPr>
              <a:t>Aim:  </a:t>
            </a:r>
            <a:r>
              <a:rPr sz="1800" b="0" i="0" dirty="0">
                <a:solidFill>
                  <a:srgbClr val="1B1B1B"/>
                </a:solidFill>
                <a:latin typeface="Calibri"/>
              </a:rPr>
              <a:t>Design, build and evaluate a working low-cost end-to-end prototype of an automated </a:t>
            </a:r>
            <a:r>
              <a:rPr sz="1800" b="0" i="0" dirty="0" err="1">
                <a:solidFill>
                  <a:srgbClr val="1B1B1B"/>
                </a:solidFill>
                <a:latin typeface="Calibri"/>
              </a:rPr>
              <a:t>licence</a:t>
            </a:r>
            <a:r>
              <a:rPr sz="1800" b="0" i="0" dirty="0">
                <a:solidFill>
                  <a:srgbClr val="1B1B1B"/>
                </a:solidFill>
                <a:latin typeface="Calibri"/>
              </a:rPr>
              <a:t>-plate gate access-control system using deep-learning vision and IoT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1097280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lang="en-US" sz="1700" b="1" dirty="0">
                <a:solidFill>
                  <a:srgbClr val="1B1B1B"/>
                </a:solidFill>
                <a:latin typeface="Calibri"/>
              </a:rPr>
              <a:t>Make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 a Zimbabwean-context plate dataset by merging open </a:t>
            </a:r>
            <a:r>
              <a:rPr sz="1700" b="1" i="0" dirty="0" err="1">
                <a:solidFill>
                  <a:srgbClr val="1B1B1B"/>
                </a:solidFill>
                <a:latin typeface="Calibri"/>
              </a:rPr>
              <a:t>Roboflow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 sources.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Train and evaluate a YOLO11n detector that locates plates reliably.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Implement a secure REST backend (Django + DRF + JWT) with role-based admin.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Build a React dashboard for People, Vehicles, Access Logs and manual override.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Write ESP32-CAM + ESP32 firmware that captures, decides and actuates the gate.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Deploy the whole stack on free / commodity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dirty="0">
                <a:solidFill>
                  <a:srgbClr val="555555"/>
                </a:solidFill>
                <a:latin typeface="Calibri"/>
              </a:rPr>
              <a:t>THE END-TO-END PICTURE</a:t>
            </a: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0"/>
            <a:ext cx="10972800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Three physical zones.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Gate site, public HTTPS hop, backend VM.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Two-board gate node.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Control node owns peripherals; camera node owns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WiFi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/HTTPS.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Dashboard talks to backend directly.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Browser ↔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Vercel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↔ Funnel ↔ Django, CORS-enabled.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567230-1F04-6F86-9383-FA142132EA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07" y="1325879"/>
            <a:ext cx="9242322" cy="3147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dirty="0">
                <a:solidFill>
                  <a:srgbClr val="555555"/>
                </a:solidFill>
                <a:latin typeface="Calibri"/>
              </a:rPr>
              <a:t>THE </a:t>
            </a:r>
            <a:r>
              <a:rPr lang="en-US" sz="1100" b="1" i="0" dirty="0">
                <a:solidFill>
                  <a:srgbClr val="555555"/>
                </a:solidFill>
                <a:latin typeface="Calibri"/>
              </a:rPr>
              <a:t>PROTOTYPOE</a:t>
            </a:r>
          </a:p>
          <a:p>
            <a:r>
              <a:rPr lang="en-US" sz="3000" b="1" i="0" dirty="0">
                <a:solidFill>
                  <a:srgbClr val="1B1B1B"/>
                </a:solidFill>
                <a:latin typeface="Calibri"/>
              </a:rPr>
              <a:t>Hardware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08760"/>
            <a:ext cx="6400800" cy="4846320"/>
          </a:xfrm>
          <a:prstGeom prst="rect">
            <a:avLst/>
          </a:prstGeom>
          <a:solidFill>
            <a:srgbClr val="EEEADD"/>
          </a:solidFill>
          <a:ln w="19050">
            <a:solidFill>
              <a:srgbClr val="B0A89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400" b="1" i="1">
                <a:solidFill>
                  <a:srgbClr val="2E6B4F"/>
                </a:solidFill>
                <a:latin typeface="Calibri"/>
              </a:rPr>
              <a:t>[ INSERT IMAGE HERE ]</a:t>
            </a:r>
          </a:p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Prototype photo — ESP32 + ESP32-CAM + PIR + SG90 servo + green/red LEDs + buzzer wired on a breadboard, with the shared 5 V supply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508760"/>
            <a:ext cx="4937760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ESP32 control node.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PIR D13, servo D25, green D26, red D27, buzzer D33.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ESP32-CAM camera node.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OV2640 capture +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WiFi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/HTTPS to the backend.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UART link, 3 wires + GND.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CAM IO14 → D16(RX2); CAM IO15 ← D17(TX2); common ground.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Bill of materials ≈ USD 20.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Inside the original low-cost objective.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Power: shared 5 V 2 A rail.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Servo + buzzer + both boards; never drive servo from 3V3.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808F4-BFDE-987F-3AC1-55DB5203F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0477"/>
            <a:ext cx="6173183" cy="44441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DATA PREPARATION</a:t>
            </a:r>
            <a:endParaRPr sz="1100" b="1" i="0" dirty="0">
              <a:solidFill>
                <a:srgbClr val="555555"/>
              </a:solidFill>
              <a:latin typeface="Calibri"/>
            </a:endParaRP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Two open </a:t>
            </a:r>
            <a:r>
              <a:rPr sz="2000" b="1" i="0" dirty="0" err="1">
                <a:solidFill>
                  <a:srgbClr val="1B1B1B"/>
                </a:solidFill>
                <a:latin typeface="Calibri"/>
              </a:rPr>
              <a:t>Roboflow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 datasets, merged.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ta-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jfzoz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/licence-detection-fy0ma v3   +  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msucs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/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zimbabwe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-license-plates v4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All labels collapsed to a single class: </a:t>
            </a:r>
            <a:r>
              <a:rPr sz="2000" b="1" i="0" dirty="0" err="1">
                <a:solidFill>
                  <a:srgbClr val="1B1B1B"/>
                </a:solidFill>
                <a:latin typeface="Calibri"/>
              </a:rPr>
              <a:t>license_plate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merge_detector_datasets.py walks each split and rewrites every label.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717 images total — 635 train / 55 valid / 27 test.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Approximate 70 / 20 / 10 split, inherited from the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Roboflow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exports.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Single </a:t>
            </a:r>
            <a:r>
              <a:rPr sz="2000" b="1" i="0" dirty="0" err="1">
                <a:solidFill>
                  <a:srgbClr val="1B1B1B"/>
                </a:solidFill>
                <a:latin typeface="Calibri"/>
              </a:rPr>
              <a:t>data.yaml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 + standard YOLO layout.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Ready to feed straight into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Ultralytics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train_detector.py.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TRAINING</a:t>
            </a:r>
            <a:endParaRPr sz="1100" b="1" i="0" dirty="0">
              <a:solidFill>
                <a:srgbClr val="555555"/>
              </a:solidFill>
              <a:latin typeface="Calibri"/>
            </a:endParaRP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Base: YOLO11n, transfer-learned from yolo11n.pt (COCO).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Smallest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Ultralytics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backbone — trains in minutes on a single GPU.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100 max epochs, patience = 25, image size 640, batch 16, AMP on.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Effective 75 epochs after early-stop; ~6.5 minutes wall clock.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Best validation: mAP@0.5 ≈ 0.94, mAP@0.5:0.95 ≈ 0.65.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Precision peaked at 1.00; recall around 0.90.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2000" b="1" i="0" dirty="0">
                <a:solidFill>
                  <a:srgbClr val="1B1B1B"/>
                </a:solidFill>
                <a:latin typeface="Calibri"/>
              </a:rPr>
              <a:t>Best checkpoint deployed as artifacts/license_plate_detector.pt.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Loaded lazily by the Django backend on first capture.</a:t>
            </a:r>
            <a:endParaRPr lang="en-US" sz="1600" b="0" i="1" dirty="0">
              <a:solidFill>
                <a:srgbClr val="5555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US" sz="1600" b="0" i="1" dirty="0">
              <a:solidFill>
                <a:srgbClr val="555555"/>
              </a:solidFill>
              <a:latin typeface="Calibri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B1B1B"/>
                </a:solidFill>
              </a:rPr>
              <a:t>Put simply I took a free open source YOLO11n model that had already been trained on images already rather than make a model from scratch , used focused learning to it on number plates on it (specifically Zimbabwean ones), allowed it 100 runs of testing but it </a:t>
            </a:r>
            <a:r>
              <a:rPr lang="en-US" b="1" dirty="0" err="1">
                <a:solidFill>
                  <a:srgbClr val="1B1B1B"/>
                </a:solidFill>
              </a:rPr>
              <a:t>stoped</a:t>
            </a:r>
            <a:r>
              <a:rPr lang="en-US" b="1" dirty="0">
                <a:solidFill>
                  <a:srgbClr val="1B1B1B"/>
                </a:solidFill>
              </a:rPr>
              <a:t> after 75 when no improvement was noted.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B1B1B"/>
                </a:solidFill>
              </a:rPr>
              <a:t>The 0.94 value means that’s approximately 94% of the time it is successful. </a:t>
            </a:r>
            <a:br>
              <a:rPr lang="en-US" sz="1600" b="0" i="1" dirty="0">
                <a:solidFill>
                  <a:srgbClr val="555555"/>
                </a:solidFill>
                <a:latin typeface="Calibri"/>
              </a:rPr>
            </a:br>
            <a:br>
              <a:rPr lang="en-US" sz="1600" b="0" i="1" dirty="0">
                <a:solidFill>
                  <a:srgbClr val="555555"/>
                </a:solidFill>
                <a:latin typeface="Calibri"/>
              </a:rPr>
            </a:br>
            <a:endParaRPr sz="1600" b="0" i="1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555555"/>
                </a:solidFill>
                <a:latin typeface="Calibri"/>
              </a:rPr>
              <a:t>WHAT THE TRAINER REPORTED</a:t>
            </a:r>
          </a:p>
          <a:p>
            <a:r>
              <a:rPr sz="3000" b="1" i="0">
                <a:solidFill>
                  <a:srgbClr val="1B1B1B"/>
                </a:solidFill>
                <a:latin typeface="Calibri"/>
              </a:rPr>
              <a:t>Training Visuals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6431772" cy="3657600"/>
          </a:xfrm>
          <a:prstGeom prst="rect">
            <a:avLst/>
          </a:prstGeom>
        </p:spPr>
      </p:pic>
      <p:pic>
        <p:nvPicPr>
          <p:cNvPr id="5" name="Picture 4" descr="val_batch0_p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710" y="1463040"/>
            <a:ext cx="447761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0768" y="5577840"/>
            <a:ext cx="8321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 dirty="0">
                <a:solidFill>
                  <a:srgbClr val="555555"/>
                </a:solidFill>
                <a:latin typeface="Calibri"/>
              </a:rPr>
              <a:t>Left: epoch losses and validation metrics </a:t>
            </a:r>
            <a:r>
              <a:rPr lang="en-US" sz="1600" b="0" i="1" dirty="0">
                <a:solidFill>
                  <a:srgbClr val="555555"/>
                </a:solidFill>
                <a:latin typeface="Calibri"/>
              </a:rPr>
              <a:t>-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losses fall monotonically; mAP@0.5 plateaus around 0.94 in the second half of training.   Right: detector boxes drawn on real validation imagery.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BACKEND</a:t>
            </a:r>
            <a:endParaRPr sz="1100" b="1" i="0" dirty="0">
              <a:solidFill>
                <a:srgbClr val="555555"/>
              </a:solidFill>
              <a:latin typeface="Calibri"/>
            </a:endParaRP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Backend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Django 5 + DRF + </a:t>
            </a:r>
            <a:r>
              <a:rPr sz="1700" b="1" i="0" dirty="0" err="1">
                <a:solidFill>
                  <a:srgbClr val="1B1B1B"/>
                </a:solidFill>
                <a:latin typeface="Calibri"/>
              </a:rPr>
              <a:t>djangorestframework-simplejwt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0" i="1" dirty="0">
                <a:solidFill>
                  <a:srgbClr val="555555"/>
                </a:solidFill>
                <a:latin typeface="Calibri"/>
              </a:rPr>
              <a:t>      Three apps: accounts (custom User + role), gate (domain + API),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ocr_api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(vision).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Domain models: Person, Vehicle, </a:t>
            </a:r>
            <a:r>
              <a:rPr sz="1700" b="1" i="0" dirty="0" err="1">
                <a:solidFill>
                  <a:srgbClr val="1B1B1B"/>
                </a:solidFill>
                <a:latin typeface="Calibri"/>
              </a:rPr>
              <a:t>GateDevice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, </a:t>
            </a:r>
            <a:r>
              <a:rPr sz="1700" b="1" i="0" dirty="0" err="1">
                <a:solidFill>
                  <a:srgbClr val="1B1B1B"/>
                </a:solidFill>
                <a:latin typeface="Calibri"/>
              </a:rPr>
              <a:t>AccessLog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0" i="1" dirty="0">
                <a:solidFill>
                  <a:srgbClr val="555555"/>
                </a:solidFill>
                <a:latin typeface="Calibri"/>
              </a:rPr>
              <a:t>      Plus a custom User with admin / operator roles, enforced by DRF permissions.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Two authentication channels.</a:t>
            </a:r>
          </a:p>
          <a:p>
            <a:pPr>
              <a:spcAft>
                <a:spcPts val="400"/>
              </a:spcAft>
            </a:pPr>
            <a:r>
              <a:rPr sz="1300" b="0" i="1" dirty="0">
                <a:solidFill>
                  <a:srgbClr val="555555"/>
                </a:solidFill>
                <a:latin typeface="Calibri"/>
              </a:rPr>
              <a:t>      JWT bearer token for dashboard users; X-Device-Key header for the ESP32-CAM.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Three-tier plate matching: exact → confusion-folded → bounded fuzzy.</a:t>
            </a:r>
          </a:p>
          <a:p>
            <a:pPr>
              <a:spcAft>
                <a:spcPts val="400"/>
              </a:spcAft>
            </a:pPr>
            <a:r>
              <a:rPr sz="1300" b="0" i="1" dirty="0">
                <a:solidFill>
                  <a:srgbClr val="555555"/>
                </a:solidFill>
                <a:latin typeface="Calibri"/>
              </a:rPr>
              <a:t>      Tolerates common OCR noise (O/0, I/1, S/5, B/8) without false matches.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YOLO and </a:t>
            </a:r>
            <a:r>
              <a:rPr sz="1700" b="1" i="0" dirty="0" err="1">
                <a:solidFill>
                  <a:srgbClr val="1B1B1B"/>
                </a:solidFill>
                <a:latin typeface="Calibri"/>
              </a:rPr>
              <a:t>PaddleOCR</a:t>
            </a:r>
            <a:r>
              <a:rPr sz="1700" b="1" i="0" dirty="0">
                <a:solidFill>
                  <a:srgbClr val="1B1B1B"/>
                </a:solidFill>
                <a:latin typeface="Calibri"/>
              </a:rPr>
              <a:t> loaded lazily inside service functions.</a:t>
            </a:r>
          </a:p>
          <a:p>
            <a:pPr>
              <a:spcAft>
                <a:spcPts val="400"/>
              </a:spcAft>
            </a:pPr>
            <a:r>
              <a:rPr sz="1300" b="0" i="1" dirty="0">
                <a:solidFill>
                  <a:srgbClr val="555555"/>
                </a:solidFill>
                <a:latin typeface="Calibri"/>
              </a:rPr>
              <a:t>      Keeps Django startup and migrations free of the multi-GB ML deps.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FRONTEND</a:t>
            </a:r>
            <a:endParaRPr sz="1100" b="1" i="0" dirty="0">
              <a:solidFill>
                <a:srgbClr val="555555"/>
              </a:solidFill>
              <a:latin typeface="Calibri"/>
            </a:endParaRP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Frontend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120640" cy="304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React 19 + Vite + react-router 7, on </a:t>
            </a:r>
            <a:r>
              <a:rPr sz="1600" b="1" i="0" dirty="0" err="1">
                <a:solidFill>
                  <a:srgbClr val="1B1B1B"/>
                </a:solidFill>
                <a:latin typeface="Calibri"/>
              </a:rPr>
              <a:t>Vercel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Static SPA served from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Vercel's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edge.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Role-aware nav and protected routes.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Operator: browse + override.   Admin: </a:t>
            </a:r>
            <a:r>
              <a:rPr lang="en-US" sz="1600" i="1" dirty="0">
                <a:solidFill>
                  <a:srgbClr val="555555"/>
                </a:solidFill>
                <a:latin typeface="Calibri"/>
              </a:rPr>
              <a:t>change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registry.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Pages.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Dashboard, Vehicles, People, Access Logs, Devices, Users, OCR Tester.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VITE_API_BASE_URL + CORS.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Vercel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reserves /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api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; SPA points straight at the funnel hostname.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6440" y="1508760"/>
            <a:ext cx="6035040" cy="4937760"/>
          </a:xfrm>
          <a:prstGeom prst="rect">
            <a:avLst/>
          </a:prstGeom>
          <a:solidFill>
            <a:srgbClr val="EEEADD"/>
          </a:solidFill>
          <a:ln w="19050">
            <a:solidFill>
              <a:srgbClr val="B0A89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400" b="1" i="1" dirty="0">
                <a:solidFill>
                  <a:srgbClr val="2E6B4F"/>
                </a:solidFill>
                <a:latin typeface="Calibri"/>
              </a:rPr>
              <a:t>[ INSERT IMAGE HERE ]</a:t>
            </a:r>
          </a:p>
          <a:p>
            <a:pPr algn="ctr"/>
            <a:r>
              <a:rPr sz="1100" b="0" i="1" dirty="0">
                <a:solidFill>
                  <a:srgbClr val="555555"/>
                </a:solidFill>
                <a:latin typeface="Calibri"/>
              </a:rPr>
              <a:t>Dashboard screenshot — the Gate Control Dashboard page showing the four metric cards (Registered Vehicles, Granted Today, Denied Today, Devices Online) plus the live Recent Gate Events table with capture thumbnails.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799018-1FE3-6881-F4EC-6C59DD217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641987"/>
            <a:ext cx="572719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FIRMWARE</a:t>
            </a:r>
            <a:endParaRPr lang="en-US" sz="1100" b="1" i="0" dirty="0">
              <a:solidFill>
                <a:srgbClr val="555555"/>
              </a:solidFill>
              <a:latin typeface="Calibri"/>
            </a:endParaRPr>
          </a:p>
          <a:p>
            <a:r>
              <a:rPr lang="en-US" sz="3000" b="1" i="0" dirty="0">
                <a:solidFill>
                  <a:srgbClr val="1B1B1B"/>
                </a:solidFill>
                <a:latin typeface="Calibri"/>
              </a:rPr>
              <a:t>Firmware: Two-Board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ESP32 control node — peripherals only.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Reads the PIR, drives SG90 servo boom, green/red LEDs, buzzer.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ESP32-CAM camera node — network + camera only.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Captures JPEGs, POSTs to /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api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/gate/check/, parses the JSON decision.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Linked over UART at 115200 baud, line-terminated text.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CAPTURE\n    AUTH:1\n    AUTH:0\n    ERR\n    OPEN\n    READY\n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Solves the AI-Thinker GPIO scarcity problem cleanly.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Camera board was running out of pins; this split puts each role on its own MCU.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Camera fixes: sensor un-mirror + two-frame buffer drain.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</a:t>
            </a:r>
            <a:r>
              <a:rPr sz="1600" b="0" i="1" dirty="0" err="1">
                <a:solidFill>
                  <a:srgbClr val="555555"/>
                </a:solidFill>
                <a:latin typeface="Calibri"/>
              </a:rPr>
              <a:t>set_hmirror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(1) cancels the OV2640 default; drain ensures genuinely-fresh frames.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4.6</a:t>
            </a:r>
          </a:p>
          <a:p>
            <a:r>
              <a:rPr sz="3000" b="1" i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120640" cy="2549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in Docker on an Ubuntu VM (private IPv4 ).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docker compose; DB + media in named volumes.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i="0" dirty="0" err="1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Tailscale</a:t>
            </a:r>
            <a:r>
              <a:rPr sz="1600" b="1" i="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Funnel: public HTTPS to localhost:8000.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Free, no public IP, Let's Encrypt cert on *.ts.net.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i="0" dirty="0" err="1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600" b="1" i="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auto-deploys on push to main.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GitHub integration; zero-ops releases.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Recurring cost: just the VM.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1600" b="0" i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6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Hobby + </a:t>
            </a:r>
            <a:r>
              <a:rPr sz="1600" b="0" i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Tailscale</a:t>
            </a:r>
            <a:r>
              <a:rPr sz="16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personal are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6440" y="1174463"/>
            <a:ext cx="6035040" cy="2560418"/>
          </a:xfrm>
          <a:prstGeom prst="rect">
            <a:avLst/>
          </a:prstGeom>
          <a:solidFill>
            <a:srgbClr val="EEEADD"/>
          </a:solidFill>
          <a:ln w="19050">
            <a:solidFill>
              <a:srgbClr val="B0A89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400" b="1" i="1" dirty="0">
                <a:solidFill>
                  <a:srgbClr val="2E6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INSERT IMAGE HERE ]</a:t>
            </a:r>
          </a:p>
          <a:p>
            <a:pPr algn="ctr"/>
            <a:r>
              <a:rPr sz="1100" b="0" i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1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Deployments tab — current Production build tied to the GitHub commit (gatekeep-</a:t>
            </a:r>
            <a:r>
              <a:rPr sz="1100" b="0" i="1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kappa.vercel.app</a:t>
            </a:r>
            <a:r>
              <a:rPr sz="11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069080"/>
            <a:ext cx="6035040" cy="2560418"/>
          </a:xfrm>
          <a:prstGeom prst="rect">
            <a:avLst/>
          </a:prstGeom>
          <a:solidFill>
            <a:srgbClr val="EEEADD"/>
          </a:solidFill>
          <a:ln w="19050">
            <a:solidFill>
              <a:srgbClr val="B0A89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400" b="1" i="1">
                <a:solidFill>
                  <a:srgbClr val="2E6B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INSERT IMAGE HERE ]</a:t>
            </a:r>
          </a:p>
          <a:p>
            <a:pPr algn="ctr"/>
            <a:r>
              <a:rPr sz="1100" b="0" i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Tailscale admin / `tailscale funnel status` output — VM enrolled with Funnel enabled at https://user-hvm-domu.taile2f0da.ts.net.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7A87D6-1976-C40D-66B1-5DB160FEE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174463"/>
            <a:ext cx="6035040" cy="2560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BD56DE-61C8-BD7C-2329-13CDDD970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058176"/>
            <a:ext cx="6035040" cy="25849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TEST EXAMPLE</a:t>
            </a:r>
            <a:endParaRPr sz="1100" b="1" i="0" dirty="0">
              <a:solidFill>
                <a:srgbClr val="555555"/>
              </a:solidFill>
              <a:latin typeface="Calibri"/>
            </a:endParaRP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Live Capture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08760"/>
            <a:ext cx="6858000" cy="4937760"/>
          </a:xfrm>
          <a:prstGeom prst="rect">
            <a:avLst/>
          </a:prstGeom>
          <a:solidFill>
            <a:srgbClr val="EEEADD"/>
          </a:solidFill>
          <a:ln w="19050">
            <a:solidFill>
              <a:srgbClr val="B0A89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400" b="1" i="1">
                <a:solidFill>
                  <a:srgbClr val="2E6B4F"/>
                </a:solidFill>
                <a:latin typeface="Calibri"/>
              </a:rPr>
              <a:t>[ INSERT IMAGE HERE ]</a:t>
            </a:r>
          </a:p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OCR Tester result — original photo, YOLO-annotated detection box, cropped plate region, and recognised text returned by PaddleOCR. Captured from the dashboard's OCR Tester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49969"/>
            <a:ext cx="438912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Input.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Frame captured by the ESP32-CAM on a PIR trigger.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YOLO11n.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Locates the plate, returns a confidence-scored bounding box.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Crop + preprocess.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Pad, optional grayscale + invert + 2× upscale before OCR.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 err="1">
                <a:solidFill>
                  <a:srgbClr val="1B1B1B"/>
                </a:solidFill>
                <a:latin typeface="Calibri"/>
              </a:rPr>
              <a:t>PaddleOCR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Reads characters</a:t>
            </a:r>
            <a:r>
              <a:rPr lang="en-US" sz="1600" b="0" i="1" dirty="0">
                <a:solidFill>
                  <a:srgbClr val="555555"/>
                </a:solidFill>
                <a:latin typeface="Calibri"/>
              </a:rPr>
              <a:t> and</a:t>
            </a:r>
            <a:r>
              <a:rPr sz="1600" b="0" i="1" dirty="0">
                <a:solidFill>
                  <a:srgbClr val="555555"/>
                </a:solidFill>
                <a:latin typeface="Calibri"/>
              </a:rPr>
              <a:t> joined text is what the backend uses.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600" b="1" i="0" dirty="0">
                <a:solidFill>
                  <a:srgbClr val="1B1B1B"/>
                </a:solidFill>
                <a:latin typeface="Calibri"/>
              </a:rPr>
              <a:t>Plate matching.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555555"/>
                </a:solidFill>
                <a:latin typeface="Calibri"/>
              </a:rPr>
              <a:t>      Three tiers — exact, confusion-folded, bounded fuzzy.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2C8CE-18AA-B5B1-03FC-076C6771B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1759975"/>
            <a:ext cx="6508955" cy="45130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555555"/>
                </a:solidFill>
                <a:latin typeface="Calibri"/>
              </a:rPr>
              <a:t>NOTED LIMITATIONS</a:t>
            </a:r>
            <a:endParaRPr sz="1100" b="1" i="0" dirty="0">
              <a:solidFill>
                <a:srgbClr val="555555"/>
              </a:solidFill>
              <a:latin typeface="Calibri"/>
            </a:endParaRP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900" b="1" i="0" dirty="0">
                <a:solidFill>
                  <a:srgbClr val="1B1B1B"/>
                </a:solidFill>
                <a:latin typeface="Calibri"/>
              </a:rPr>
              <a:t>OCR is CPU-only — about 2–4 s per capture.</a:t>
            </a:r>
          </a:p>
          <a:p>
            <a:pPr>
              <a:spcAft>
                <a:spcPts val="400"/>
              </a:spcAft>
            </a:pPr>
            <a:r>
              <a:rPr sz="1500" b="0" i="1" dirty="0">
                <a:solidFill>
                  <a:srgbClr val="555555"/>
                </a:solidFill>
                <a:latin typeface="Calibri"/>
              </a:rPr>
              <a:t>      Fine for gate use; not suitable for a tollway.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9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900" b="1" i="0" dirty="0">
                <a:solidFill>
                  <a:srgbClr val="1B1B1B"/>
                </a:solidFill>
                <a:latin typeface="Calibri"/>
              </a:rPr>
              <a:t>OV2640 sensor is weak in low light.</a:t>
            </a:r>
          </a:p>
          <a:p>
            <a:pPr>
              <a:spcAft>
                <a:spcPts val="400"/>
              </a:spcAft>
            </a:pPr>
            <a:r>
              <a:rPr sz="1500" b="0" i="1" dirty="0">
                <a:solidFill>
                  <a:srgbClr val="555555"/>
                </a:solidFill>
                <a:latin typeface="Calibri"/>
              </a:rPr>
              <a:t>      Night use would need a white-LED or IR illuminator.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9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900" b="1" i="0" dirty="0" err="1">
                <a:solidFill>
                  <a:srgbClr val="1B1B1B"/>
                </a:solidFill>
                <a:latin typeface="Calibri"/>
              </a:rPr>
              <a:t>setInsecure</a:t>
            </a:r>
            <a:r>
              <a:rPr sz="1900" b="1" i="0" dirty="0">
                <a:solidFill>
                  <a:srgbClr val="1B1B1B"/>
                </a:solidFill>
                <a:latin typeface="Calibri"/>
              </a:rPr>
              <a:t>() on the ESP32 TLS path is prototype only.</a:t>
            </a:r>
          </a:p>
          <a:p>
            <a:pPr>
              <a:spcAft>
                <a:spcPts val="400"/>
              </a:spcAft>
            </a:pPr>
            <a:r>
              <a:rPr sz="1500" b="0" i="1" dirty="0">
                <a:solidFill>
                  <a:srgbClr val="555555"/>
                </a:solidFill>
                <a:latin typeface="Calibri"/>
              </a:rPr>
              <a:t>      Production deployment would pin the </a:t>
            </a:r>
            <a:r>
              <a:rPr sz="1500" b="0" i="1" dirty="0" err="1">
                <a:solidFill>
                  <a:srgbClr val="555555"/>
                </a:solidFill>
                <a:latin typeface="Calibri"/>
              </a:rPr>
              <a:t>Tailscale</a:t>
            </a:r>
            <a:r>
              <a:rPr sz="1500" b="0" i="1" dirty="0">
                <a:solidFill>
                  <a:srgbClr val="555555"/>
                </a:solidFill>
                <a:latin typeface="Calibri"/>
              </a:rPr>
              <a:t> root CA.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9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900" b="1" i="0" dirty="0">
                <a:solidFill>
                  <a:srgbClr val="1B1B1B"/>
                </a:solidFill>
                <a:latin typeface="Calibri"/>
              </a:rPr>
              <a:t>Next: an LCD readout at the gate showing the matched plate + owner.</a:t>
            </a:r>
          </a:p>
          <a:p>
            <a:pPr>
              <a:spcAft>
                <a:spcPts val="400"/>
              </a:spcAft>
            </a:pPr>
            <a:r>
              <a:rPr sz="1500" b="0" i="1" dirty="0">
                <a:solidFill>
                  <a:srgbClr val="555555"/>
                </a:solidFill>
                <a:latin typeface="Calibri"/>
              </a:rPr>
              <a:t>      Plenty of free GPIO on the control node already.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900"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sz="1900" b="1" i="0" dirty="0">
                <a:solidFill>
                  <a:srgbClr val="1B1B1B"/>
                </a:solidFill>
                <a:latin typeface="Calibri"/>
              </a:rPr>
              <a:t>Next: WebSocket access-log stream to remove the 4 s polling lag.</a:t>
            </a:r>
          </a:p>
          <a:p>
            <a:pPr>
              <a:spcAft>
                <a:spcPts val="400"/>
              </a:spcAft>
            </a:pPr>
            <a:r>
              <a:rPr sz="1500" b="0" i="1" dirty="0">
                <a:solidFill>
                  <a:srgbClr val="555555"/>
                </a:solidFill>
                <a:latin typeface="Calibri"/>
              </a:rPr>
              <a:t>      Django Channels + </a:t>
            </a:r>
            <a:r>
              <a:rPr sz="1500" b="0" i="1" dirty="0" err="1">
                <a:solidFill>
                  <a:srgbClr val="555555"/>
                </a:solidFill>
                <a:latin typeface="Calibri"/>
              </a:rPr>
              <a:t>EventSource</a:t>
            </a:r>
            <a:r>
              <a:rPr sz="1500" b="0" i="1" dirty="0">
                <a:solidFill>
                  <a:srgbClr val="555555"/>
                </a:solidFill>
                <a:latin typeface="Calibri"/>
              </a:rPr>
              <a:t> on the SPA.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dirty="0">
                <a:solidFill>
                  <a:srgbClr val="555555"/>
                </a:solidFill>
                <a:latin typeface="Calibri"/>
              </a:rPr>
              <a:t>CONCLUSION</a:t>
            </a:r>
          </a:p>
          <a:p>
            <a:r>
              <a:rPr sz="3000" b="1" i="0" dirty="0">
                <a:solidFill>
                  <a:srgbClr val="1B1B1B"/>
                </a:solidFill>
                <a:latin typeface="Calibri"/>
              </a:rP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 dirty="0">
                <a:solidFill>
                  <a:srgbClr val="1B1B1B"/>
                </a:solidFill>
                <a:latin typeface="Calibri"/>
              </a:rPr>
              <a:t>All six objectives were achieved: a curated 717-image dataset, a YOLO11n detector at ≈ 0.94 mAP@0.5, a JWT + role-based Django REST backend with three-tier plate matching, a </a:t>
            </a:r>
            <a:r>
              <a:rPr sz="1700" b="0" i="0" dirty="0" err="1">
                <a:solidFill>
                  <a:srgbClr val="1B1B1B"/>
                </a:solidFill>
                <a:latin typeface="Calibri"/>
              </a:rPr>
              <a:t>Vercel</a:t>
            </a:r>
            <a:r>
              <a:rPr sz="1700" b="0" i="0" dirty="0">
                <a:solidFill>
                  <a:srgbClr val="1B1B1B"/>
                </a:solidFill>
                <a:latin typeface="Calibri"/>
              </a:rPr>
              <a:t>-hosted React dashboard, a two-board ESP32 firmware split and a fully free-tier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66160"/>
            <a:ext cx="109728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2E6B4F"/>
                </a:solidFill>
                <a:latin typeface="Calibri"/>
              </a:rPr>
              <a:t>Anticipated questions I am ready for</a:t>
            </a:r>
          </a:p>
          <a:p>
            <a:pPr>
              <a:spcAft>
                <a:spcPts val="200"/>
              </a:spcAft>
            </a:pPr>
            <a:r>
              <a:rPr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Why YOLO11n instead of a bigger backbone?    → Dataset is small; nano avoids over-fitting and runs on CPU.</a:t>
            </a:r>
          </a:p>
          <a:p>
            <a:pPr>
              <a:spcAft>
                <a:spcPts val="200"/>
              </a:spcAft>
            </a:pPr>
            <a:r>
              <a:rPr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How does plate matching tolerate OCR errors?  → Three-tier: exact → character-folded → bounded </a:t>
            </a:r>
            <a:r>
              <a:rPr b="0" i="0" dirty="0" err="1">
                <a:solidFill>
                  <a:srgbClr val="1B1B1B"/>
                </a:solidFill>
                <a:latin typeface="Calibri"/>
              </a:rPr>
              <a:t>Levenshtein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.</a:t>
            </a:r>
          </a:p>
          <a:p>
            <a:pPr>
              <a:spcAft>
                <a:spcPts val="200"/>
              </a:spcAft>
            </a:pPr>
            <a:r>
              <a:rPr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Why </a:t>
            </a:r>
            <a:r>
              <a:rPr b="0" i="0" dirty="0" err="1">
                <a:solidFill>
                  <a:srgbClr val="1B1B1B"/>
                </a:solidFill>
                <a:latin typeface="Calibri"/>
              </a:rPr>
              <a:t>Tailscale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 Funnel and not Cloudflare Tunnel? → No domain required; works with a private-IP VM out of the box.</a:t>
            </a:r>
          </a:p>
          <a:p>
            <a:pPr>
              <a:spcAft>
                <a:spcPts val="200"/>
              </a:spcAft>
            </a:pPr>
            <a:r>
              <a:rPr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What stops an attacker forging a gate request? → Device API key per camera; </a:t>
            </a:r>
            <a:r>
              <a:rPr b="0" i="0" dirty="0" err="1">
                <a:solidFill>
                  <a:srgbClr val="1B1B1B"/>
                </a:solidFill>
                <a:latin typeface="Calibri"/>
              </a:rPr>
              <a:t>rotateable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 from the Devices admin page.</a:t>
            </a:r>
          </a:p>
          <a:p>
            <a:pPr>
              <a:spcAft>
                <a:spcPts val="200"/>
              </a:spcAft>
            </a:pPr>
            <a:r>
              <a:rPr b="1" i="0" dirty="0">
                <a:solidFill>
                  <a:srgbClr val="2E6B4F"/>
                </a:solidFill>
                <a:latin typeface="Calibri"/>
              </a:rPr>
              <a:t>• </a:t>
            </a:r>
            <a:r>
              <a:rPr b="0" i="0" dirty="0">
                <a:solidFill>
                  <a:srgbClr val="1B1B1B"/>
                </a:solidFill>
                <a:latin typeface="Calibri"/>
              </a:rPr>
              <a:t>Why split the firmware across two boards?     → ESP32-CAM is GPIO-starved; split puts peripherals on a board that has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3635</Words>
  <Application>Microsoft Office PowerPoint</Application>
  <PresentationFormat>Widescreen</PresentationFormat>
  <Paragraphs>315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Alvin Chipmunk</cp:lastModifiedBy>
  <cp:revision>20</cp:revision>
  <dcterms:created xsi:type="dcterms:W3CDTF">2013-01-27T09:14:16Z</dcterms:created>
  <dcterms:modified xsi:type="dcterms:W3CDTF">2026-06-10T14:02:03Z</dcterms:modified>
  <cp:category/>
</cp:coreProperties>
</file>